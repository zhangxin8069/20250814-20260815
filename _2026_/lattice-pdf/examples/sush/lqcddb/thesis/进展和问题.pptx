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8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D389-8733-4589-966C-9CD62BCA26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F85CA-7F5C-473F-B936-D3281E9CC9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D389-8733-4589-966C-9CD62BCA26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F85CA-7F5C-473F-B936-D3281E9CC9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D389-8733-4589-966C-9CD62BCA26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F85CA-7F5C-473F-B936-D3281E9CC9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D389-8733-4589-966C-9CD62BCA26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F85CA-7F5C-473F-B936-D3281E9CC9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D389-8733-4589-966C-9CD62BCA26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F85CA-7F5C-473F-B936-D3281E9CC9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D389-8733-4589-966C-9CD62BCA26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F85CA-7F5C-473F-B936-D3281E9CC9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D389-8733-4589-966C-9CD62BCA26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F85CA-7F5C-473F-B936-D3281E9CC9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D389-8733-4589-966C-9CD62BCA26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F85CA-7F5C-473F-B936-D3281E9CC9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D389-8733-4589-966C-9CD62BCA26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F85CA-7F5C-473F-B936-D3281E9CC9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D389-8733-4589-966C-9CD62BCA26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F85CA-7F5C-473F-B936-D3281E9CC9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D389-8733-4589-966C-9CD62BCA26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F85CA-7F5C-473F-B936-D3281E9CC9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FD389-8733-4589-966C-9CD62BCA26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F85CA-7F5C-473F-B936-D3281E9CC9D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345745" y="1001005"/>
                <a:ext cx="5585049" cy="1021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b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𝑎𝑏𝑐</m:t>
                          </m:r>
                        </m:sub>
                      </m:sSub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⃗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acc>
                            <m:accPr>
                              <m:chr m:val="⃗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altLang="zh-CN" sz="1200" b="0" dirty="0"/>
              </a:p>
              <a:p>
                <a:endParaRPr lang="en-US" altLang="zh-CN" sz="12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,−</m:t>
                          </m:r>
                          <m:f>
                            <m:f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b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𝑎𝑏𝑐</m:t>
                          </m:r>
                        </m:sub>
                      </m:sSub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⃗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acc>
                            <m:accPr>
                              <m:chr m:val="⃗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1200" b="0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45" y="1001005"/>
                <a:ext cx="5585049" cy="1021562"/>
              </a:xfrm>
              <a:prstGeom prst="rect">
                <a:avLst/>
              </a:prstGeom>
              <a:blipFill rotWithShape="1">
                <a:blip r:embed="rId1"/>
                <a:stretch>
                  <a:fillRect l="-5" t="-24" r="9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7189522" y="1064120"/>
                <a:ext cx="4160232" cy="105759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US" altLang="zh-CN" sz="1200" b="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</m:d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nary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d>
                      <m:d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1200" b="0" dirty="0"/>
              </a:p>
              <a:p>
                <a:r>
                  <a:rPr lang="en-US" altLang="zh-CN" sz="1200" dirty="0"/>
                  <a:t> </a:t>
                </a:r>
                <a:endParaRPr lang="en-US" altLang="zh-CN" sz="1200" i="1" dirty="0">
                  <a:latin typeface="Cambria Math" panose="02040503050406030204" pitchFamily="18" charset="0"/>
                </a:endParaRPr>
              </a:p>
              <a:p>
                <a:r>
                  <a:rPr lang="en-US" altLang="zh-CN" sz="12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2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n-US" altLang="zh-CN" sz="1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d>
                      <m:d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</m:d>
                    <m:r>
                      <a:rPr lang="en-US" altLang="zh-CN" sz="1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nary>
                    <m:r>
                      <a:rPr lang="en-US" altLang="zh-CN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 [</m:t>
                    </m:r>
                    <m:acc>
                      <m:accPr>
                        <m:chr m:val="̅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d>
                      <m:dPr>
                        <m:ctrlPr>
                          <a:rPr lang="en-US" altLang="zh-CN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sz="1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CN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] = 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e>
                    </m:d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sz="1200" dirty="0"/>
              </a:p>
              <a:p>
                <a:r>
                  <a:rPr lang="en-US" altLang="zh-CN" sz="1200" dirty="0"/>
                  <a:t> </a:t>
                </a:r>
                <a:endParaRPr lang="en-US" altLang="zh-CN" sz="1200" dirty="0"/>
              </a:p>
              <a:p>
                <a:r>
                  <a:rPr lang="en-US" altLang="zh-CN" sz="12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</m:d>
                    <m:r>
                      <a:rPr lang="en-US" altLang="zh-CN" sz="1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nary>
                    <m:r>
                      <a:rPr lang="en-US" altLang="zh-CN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1200" b="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522" y="1064120"/>
                <a:ext cx="4160232" cy="1057597"/>
              </a:xfrm>
              <a:prstGeom prst="rect">
                <a:avLst/>
              </a:prstGeom>
              <a:blipFill rotWithShape="1">
                <a:blip r:embed="rId2"/>
                <a:stretch>
                  <a:fillRect l="-1" t="-47" r="10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515946" y="567631"/>
            <a:ext cx="199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lang="en-US" altLang="zh-CN" dirty="0"/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5946" y="5043887"/>
            <a:ext cx="212171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Momentum modes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011818" y="5566864"/>
                <a:ext cx="2542556" cy="3953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m:rPr>
                              <m:lit/>
                            </m:r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200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818" y="5566864"/>
                <a:ext cx="2542556" cy="395365"/>
              </a:xfrm>
              <a:prstGeom prst="rect">
                <a:avLst/>
              </a:prstGeom>
              <a:blipFill rotWithShape="1">
                <a:blip r:embed="rId3"/>
                <a:stretch>
                  <a:fillRect l="-10" t="-115" r="-1163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177954" y="2809663"/>
                <a:ext cx="4752840" cy="6193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⟩ ∗ ⟨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p>
                              <m:sSup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altLang="zh-CN" sz="1200" dirty="0"/>
                  <a:t> </a:t>
                </a:r>
                <a:endParaRPr lang="en-US" altLang="zh-CN" sz="1200" dirty="0"/>
              </a:p>
              <a:p>
                <a:endParaRPr lang="en-US" altLang="zh-CN" sz="1200" dirty="0"/>
              </a:p>
              <a:p>
                <a14:m>
                  <m:oMath xmlns:m="http://schemas.openxmlformats.org/officeDocument/2006/math">
                    <m:r>
                      <a:rPr lang="en-US" altLang="zh-CN" sz="1200" b="0" i="1" dirty="0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zh-CN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0" i="1" dirty="0" smtClean="0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sSubPr>
                        <m:ctrlP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sSub>
                      <m:sSubPr>
                        <m:ctrlP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𝑢𝑑</m:t>
                        </m:r>
                      </m:sub>
                    </m:sSub>
                    <m:d>
                      <m:dPr>
                        <m:ctrlP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d>
                          <m:dPr>
                            <m:ctrlP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sub>
                            </m:sSub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  <m:d>
                      <m:dPr>
                        <m:ctrlP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  <m:d>
                          <m:dPr>
                            <m:ctrlP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sub>
                            </m:sSub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dirty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altLang="zh-CN" sz="1200" i="1" dirty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sub>
                                </m:s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200" b="0" dirty="0"/>
                  <a:t>  </a:t>
                </a:r>
                <a14:m>
                  <m:oMath xmlns:m="http://schemas.openxmlformats.org/officeDocument/2006/math">
                    <m:r>
                      <a:rPr lang="en-US" altLang="zh-CN" sz="12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1200" b="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en-US" altLang="zh-CN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1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en-US" altLang="zh-CN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b>
                        </m:sSub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b>
                        </m:sSub>
                      </m:e>
                    </m:d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200" b="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954" y="2809663"/>
                <a:ext cx="4752840" cy="619337"/>
              </a:xfrm>
              <a:prstGeom prst="rect">
                <a:avLst/>
              </a:prstGeom>
              <a:blipFill rotWithShape="1">
                <a:blip r:embed="rId4"/>
                <a:stretch>
                  <a:fillRect l="-1" t="-68" r="-16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7189522" y="2586191"/>
                <a:ext cx="2409378" cy="448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𝜋𝜋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𝑒𝑒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: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2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0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altLang="zh-CN" sz="1200" b="0" i="0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𝜋𝜋</m:t>
                          </m: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522" y="2586191"/>
                <a:ext cx="2409378" cy="448200"/>
              </a:xfrm>
              <a:prstGeom prst="rect">
                <a:avLst/>
              </a:prstGeom>
              <a:blipFill rotWithShape="1">
                <a:blip r:embed="rId5"/>
                <a:stretch>
                  <a:fillRect l="-2" t="-105" r="10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7728996" y="3186676"/>
                <a:ext cx="13304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Why just insert </a:t>
                </a:r>
                <a:r>
                  <a:rPr lang="en-US" altLang="zh-CN" sz="12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US" altLang="zh-CN" sz="1200" dirty="0"/>
                  <a:t> ?</a:t>
                </a:r>
                <a:endParaRPr lang="zh-CN" altLang="en-US" sz="1200" dirty="0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996" y="3186676"/>
                <a:ext cx="1330429" cy="184666"/>
              </a:xfrm>
              <a:prstGeom prst="rect">
                <a:avLst/>
              </a:prstGeom>
              <a:blipFill rotWithShape="1">
                <a:blip r:embed="rId6"/>
                <a:stretch>
                  <a:fillRect l="-31" t="-133" r="-3780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1514687" y="4087153"/>
                <a:ext cx="4218463" cy="6278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 | </m:t>
                      </m:r>
                      <m:sSubSup>
                        <m:sSubSup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  <m:sup>
                          <m:d>
                            <m:d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′, </m:t>
                      </m:r>
                      <m:sSubSup>
                        <m:sSubSup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 ⟩= ⟨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′ </m:t>
                      </m:r>
                      <m:sSubSup>
                        <m:sSubSup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⟩⟨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 | </m:t>
                      </m:r>
                      <m:sSup>
                        <m:sSup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′ ⟩</m:t>
                      </m:r>
                    </m:oMath>
                  </m:oMathPara>
                </a14:m>
                <a:endParaRPr lang="en-US" altLang="zh-CN" sz="1200" dirty="0"/>
              </a:p>
              <a:p>
                <a:endParaRPr lang="en-US" altLang="zh-CN" sz="12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>′ </m:t>
                    </m:r>
                    <m:sSubSup>
                      <m:sSubSup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12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zh-CN" altLang="en-US" sz="1200" dirty="0"/>
                  <a:t> </a:t>
                </a:r>
                <a:r>
                  <a:rPr lang="en-US" altLang="zh-CN" sz="1200" dirty="0"/>
                  <a:t>is CG coefficient</a:t>
                </a:r>
                <a:endParaRPr lang="zh-CN" altLang="en-US" sz="1200" dirty="0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687" y="4087153"/>
                <a:ext cx="4218463" cy="627801"/>
              </a:xfrm>
              <a:prstGeom prst="rect">
                <a:avLst/>
              </a:prstGeom>
              <a:blipFill rotWithShape="1">
                <a:blip r:embed="rId7"/>
                <a:stretch>
                  <a:fillRect l="-5" t="-47" r="9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/>
          <p:cNvSpPr txBox="1"/>
          <p:nvPr/>
        </p:nvSpPr>
        <p:spPr>
          <a:xfrm>
            <a:off x="515946" y="3653779"/>
            <a:ext cx="149535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W-E theorem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14246" y="4284255"/>
            <a:ext cx="256801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consider the total isospin?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893792" y="1255332"/>
                <a:ext cx="5109849" cy="11255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2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20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12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f>
                          <m:f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 </m:t>
                        </m:r>
                      </m:sup>
                    </m:sSubSup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sSubSup>
                      <m:sSub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bSup>
                    <m:sSubSup>
                      <m:sSub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sSubSup>
                      <m:sSub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,−</m:t>
                        </m:r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bSup>
                    <m:sSubSup>
                      <m:sSub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 =</m:t>
                    </m:r>
                    <m:rad>
                      <m:radPr>
                        <m:degHide m:val="on"/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d>
                      <m:dPr>
                        <m:begChr m:val="|"/>
                        <m:endChr m:val="⟩"/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sSup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d>
                      <m:dPr>
                        <m:begChr m:val="|"/>
                        <m:endChr m:val="⟩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n</m:t>
                        </m:r>
                        <m:sSup>
                          <m:s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1200" b="0" dirty="0"/>
              </a:p>
              <a:p>
                <a:endParaRPr lang="en-US" altLang="zh-CN" sz="1200" b="0" dirty="0"/>
              </a:p>
              <a:p>
                <a:endParaRPr lang="en-US" altLang="zh-CN" sz="1200" b="0" dirty="0"/>
              </a:p>
              <a:p>
                <a:r>
                  <a:rPr lang="en-US" altLang="zh-CN" sz="12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20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12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f>
                          <m:f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 </m:t>
                        </m:r>
                      </m:sup>
                    </m:sSubSup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=−</m:t>
                    </m:r>
                    <m:rad>
                      <m:radPr>
                        <m:degHide m:val="on"/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sSubSup>
                      <m:sSub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bSup>
                    <m:sSubSup>
                      <m:sSub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sSubSup>
                      <m:sSub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,−</m:t>
                        </m:r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bSup>
                    <m:sSubSup>
                      <m:sSub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d>
                      <m:dPr>
                        <m:begChr m:val="|"/>
                        <m:endChr m:val="⟩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s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  <m:r>
                      <a:rPr lang="en-US" altLang="zh-CN" sz="1200" i="1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d>
                      <m:dPr>
                        <m:begChr m:val="|"/>
                        <m:endChr m:val="⟩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200" i="1">
                            <a:latin typeface="Cambria Math" panose="02040503050406030204" pitchFamily="18" charset="0"/>
                          </a:rPr>
                          <m:t>n</m:t>
                        </m:r>
                        <m:sSup>
                          <m:s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92" y="1255332"/>
                <a:ext cx="5109849" cy="1125565"/>
              </a:xfrm>
              <a:prstGeom prst="rect">
                <a:avLst/>
              </a:prstGeom>
              <a:blipFill rotWithShape="1">
                <a:blip r:embed="rId1"/>
                <a:stretch>
                  <a:fillRect l="-7" t="-51" r="7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487799" y="580105"/>
                <a:ext cx="1420710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operator</a:t>
                </a:r>
                <a:endParaRPr lang="zh-CN" altLang="en-US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99" y="580105"/>
                <a:ext cx="142071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8" t="-95" r="24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5834832" y="1590546"/>
                <a:ext cx="5495388" cy="2711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f>
                            <m:f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 ⟨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⟩+ ⟨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⟩+ ⟨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⟩+ ⟨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⟩+ </m:t>
                      </m:r>
                      <m:sSup>
                        <m:sSup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  <m:sup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</m:oMath>
                  </m:oMathPara>
                </a14:m>
                <a:endParaRPr lang="en-US" altLang="zh-CN" sz="1200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832" y="1590546"/>
                <a:ext cx="5495388" cy="271164"/>
              </a:xfrm>
              <a:prstGeom prst="rect">
                <a:avLst/>
              </a:prstGeom>
              <a:blipFill rotWithShape="1">
                <a:blip r:embed="rId3"/>
                <a:stretch>
                  <a:fillRect l="-8" t="-187" r="10" b="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198051" y="2474798"/>
                <a:ext cx="1369093" cy="319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𝑚𝑛</m:t>
                          </m:r>
                        </m:sup>
                      </m:sSub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  <m:e>
                          <m:sSubSup>
                            <m:sSub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8051" y="2474798"/>
                <a:ext cx="1369093" cy="319896"/>
              </a:xfrm>
              <a:prstGeom prst="rect">
                <a:avLst/>
              </a:prstGeom>
              <a:blipFill rotWithShape="1">
                <a:blip r:embed="rId4"/>
                <a:stretch>
                  <a:fillRect l="-33" t="-63" r="-1217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箭头连接符 2"/>
          <p:cNvCxnSpPr/>
          <p:nvPr/>
        </p:nvCxnSpPr>
        <p:spPr>
          <a:xfrm>
            <a:off x="6696797" y="2925334"/>
            <a:ext cx="0" cy="436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953659" y="228053"/>
            <a:ext cx="348627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GEVP is designed to obtain a pure ground state?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7107" y="3485381"/>
            <a:ext cx="3909767" cy="2937801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702" y="3362019"/>
            <a:ext cx="5038545" cy="3184524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6642813" y="2925333"/>
            <a:ext cx="353943" cy="43668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100" dirty="0"/>
              <a:t>GEVP</a:t>
            </a:r>
            <a:endParaRPr lang="zh-CN" alt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1520" y="3778888"/>
            <a:ext cx="3848948" cy="288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4835480" y="2674770"/>
                <a:ext cx="2018053" cy="319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𝑚𝑛</m:t>
                          </m:r>
                        </m:sup>
                      </m:sSub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sup>
                          </m:sSubSup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</m:d>
                        </m:e>
                        <m:e>
                          <m:sSubSup>
                            <m:sSub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480" y="2674770"/>
                <a:ext cx="2018053" cy="319896"/>
              </a:xfrm>
              <a:prstGeom prst="rect">
                <a:avLst/>
              </a:prstGeom>
              <a:blipFill rotWithShape="1">
                <a:blip r:embed="rId2"/>
                <a:stretch>
                  <a:fillRect l="-29" t="-47" r="30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/>
          <p:cNvGrpSpPr/>
          <p:nvPr/>
        </p:nvGrpSpPr>
        <p:grpSpPr>
          <a:xfrm>
            <a:off x="1362855" y="1261038"/>
            <a:ext cx="1740541" cy="1692640"/>
            <a:chOff x="1078684" y="4623112"/>
            <a:chExt cx="1839143" cy="169264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1078684" y="4623112"/>
                  <a:ext cx="1839143" cy="69705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altLang="zh-CN" sz="1200" b="0" dirty="0"/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e>
                        </m:d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</m:d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altLang="zh-CN" sz="1200" b="0" dirty="0"/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e>
                        </m:d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acc>
                          </m:e>
                        </m:d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8684" y="4623112"/>
                  <a:ext cx="1839143" cy="69705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1228813" y="5849855"/>
                  <a:ext cx="1538883" cy="4658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±</m:t>
                            </m:r>
                          </m:sub>
                        </m:s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lit/>
                          </m:r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altLang="zh-CN" sz="1200" b="0" dirty="0"/>
                </a:p>
                <a:p>
                  <a:endParaRPr lang="zh-CN" altLang="en-US" dirty="0"/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8813" y="5849855"/>
                  <a:ext cx="1538883" cy="46589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4081091" y="1609563"/>
                <a:ext cx="142276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need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?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091" y="1609563"/>
                <a:ext cx="1422762" cy="246221"/>
              </a:xfrm>
              <a:prstGeom prst="rect">
                <a:avLst/>
              </a:prstGeom>
              <a:blipFill rotWithShape="1">
                <a:blip r:embed="rId5"/>
                <a:stretch>
                  <a:fillRect l="-41" t="-192" r="-2433" b="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箭头连接符 5"/>
          <p:cNvCxnSpPr/>
          <p:nvPr/>
        </p:nvCxnSpPr>
        <p:spPr>
          <a:xfrm>
            <a:off x="5745493" y="3113954"/>
            <a:ext cx="0" cy="436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659333" y="3113954"/>
            <a:ext cx="353943" cy="43668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100" dirty="0"/>
              <a:t>GEVP</a:t>
            </a:r>
            <a:endParaRPr lang="zh-CN" altLang="en-US" sz="11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737" y="3727657"/>
            <a:ext cx="4856672" cy="29824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487799" y="580105"/>
                <a:ext cx="1285160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operator</a:t>
                </a:r>
                <a:endParaRPr lang="zh-CN" altLang="en-US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99" y="580105"/>
                <a:ext cx="1285160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9" t="-95" r="3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1828</Words>
  <Application>WPS 演示</Application>
  <PresentationFormat>宽屏</PresentationFormat>
  <Paragraphs>62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Cambria Math</vt:lpstr>
      <vt:lpstr>Times New Roman</vt:lpstr>
      <vt:lpstr>仿宋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su</dc:creator>
  <cp:lastModifiedBy>留恋吧！</cp:lastModifiedBy>
  <cp:revision>61</cp:revision>
  <dcterms:created xsi:type="dcterms:W3CDTF">2026-05-11T08:41:00Z</dcterms:created>
  <dcterms:modified xsi:type="dcterms:W3CDTF">2026-05-12T12:51:16Z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69C8AC25C34740EE9CD136CF8002E056_12</vt:lpwstr>
  </property>
</Properties>
</file>